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(apresentador): 'Boa tarde a todos. Nosso projeto é o CoffeCare, um sistema que ajuda o produtor de café a descobrir, a partir de uma simples foto da folha, qual doença está atacando a lavoura — e o que fazer a respeito.'
Contextualize a etapa: 'Nas fases anteriores construímos a C2, que é o nosso modelo de Visão Computacional. Nesta etapa final, conectamos esse modelo a uma LLM (modelo de linguagem) hospedada na Groq, para transformar um diagnóstico técnico em um plano de tratamento que o produtor realmente entende.'
Diga a duração: 'A apresentação leva cerca de 12 minutos e no fim mostramos o pipeline funcionando de ponta a ponta.' Lembre de preencher equipe/data antes de apresentar.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Apresentador: 'Para guiar a apresentação, vamos seguir seis blocos.'
Passe rápido por cada um (não leia palavra por palavra): primeiro o problema real do produtor; depois a solução e como ela funciona na prática; a arquitetura técnica; os resultados do nosso modelo de visão — com honestidade sobre os pontos fracos; a integração com a LLM via Groq, que é o foco desta entrega; e por fim a demonstração e uma análise crítica da qualidade das respostas.
Frase de transição: 'Começando pelo problema.'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Apresentador: 'O café é uma das principais culturas do Brasil, e as doenças foliares são um inimigo silencioso. A ferrugem, por exemplo, pode derrubar boa parte da produção de uma safra.'
Explique as três dores, uma a uma, apontando para os cartões: o diagnóstico costuma chegar tarde; nem sempre há um agrônomo por perto; e, mesmo identificando a doença, o produtor fica sem saber qual a próxima atitude.
Vire para o painel da direita: 'A boa notícia é que quase todo produtor tem um celular. Nossa ideia foi exatamente essa: transformar uma foto em diagnóstico mais plano de ação. É isso que o CoffeCare faz.'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Apresentador: 'O fluxo tem quatro passos bem simples do ponto de vista do usuário.'
Passo 1: o produtor tira a foto e envia pelo app. Passo 2: nosso modelo de visão, a C2, classifica a doença e devolve um grau de confiança. Passo 3 — e este é o coração desta etapa: pegamos esse resultado e mandamos para uma LLM via Groq, que redige o plano de tratamento em português. Passo 4: tudo aparece na tela, pode ser exportado em PDF e fica salvo no histórico do usuário.
Reforce a frase de baixo: 'A divisão de papéis é clara: a C2 diz O QUE a planta tem; a LLM diz O QUE FAZER. São responsabilidades diferentes, e isso é importante para a arquitetura.'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Apresentador: 'Tecnicamente, o sistema tem quatro grandes peças.'
Frontend em React, onde o produtor interage. Backend em FastAPI, que orquestra tudo via REST e WebSocket, com login JWT e banco SQLite. À direita, as duas inteligências: em cima a C2, nosso modelo de visão em PyTorch, que faz o diagnóstico; embaixo a LLM hospedada na Groq, que gera o plano de tratamento.
Mostre o caminho de uma requisição seguindo as setas: a foto entra pelo front, vai ao backend, o backend chama a C2 para diagnosticar e, com esse resultado, chama a Groq para o plano; tudo é salvo no histórico.
Destaque a faixa inferior: 'Um requisito importante da entrega: a chave da API fica em variável de ambiente, no arquivo .env, que está no .gitignore. E se a Groq falhar, o sistema não quebra — ele tem um fallback. Vamos detalhar isso adiante.'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Apresentador: 'A primeira etapa da entrega pedia para preparar o resultado da C2 — e foi exatamente o que fizemos.'
Ponto 1: o modelo é um EfficientNet-B0 treinado por transfer learning, que classifica a folha em cinco categorias. Ponto 2: a inferência foi encapsulada numa função reutilizável — você passa a imagem e recebe o resultado, sem repetir código. Ponto 3, o mais importante para a integração: a saída é padronizada, em formato estruturado.
Aponte para o JSON: 'Repare que não devolvemos só o nome da doença. Devolvemos a doença, a confiança, o modelo usado e a lista de classes. Esse contexto extra é o que permite a LLM fazer uma análise rica em seguida — ela recebe dados, não apenas uma palavra solta.'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Apresentador: 'Estes são os resultados do modelo no conjunto de teste — mais de dez mil imagens que ele nunca viu no treino.'
Comece pelos números grandes: 'A acurácia ponderada passa de 99%, o que parece excelente.' Mas, e aqui está a honestidade científica: 'olhem o F1 macro, de 93%. Ele já é mais baixo, e tem um motivo.'
Desça para a tabela e aponte a linha da Ferrugem, em vermelho: 'A Ferrugem tem F1 de apenas 0,68, com só 51 imagens de teste. As outras classes são quase perfeitas porque têm milhares de exemplos.'
Explique o cartão da direita: 'A métrica weighted é puxada para cima pelas classes com muitas imagens. A macro trata todas as classes igualmente e por isso expõe o ponto fraco. Sempre olhe a macro em dataset desbalanceado.' (Se o avaliador perguntar: os números do relatório atual, pós-reconsolidação do dataset, estão mais baixos — cite isso como trabalho em andamento.)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Apresentador: 'Vale parar um instante na análise crítica do modelo, porque ela mostra maturidade.'
Primeiro: o dataset era desbalanceado, e logo a doença mais grave, a Ferrugem, era a que tinha menos exemplos. Segundo: por isso não confiamos só na acurácia — mostramos weighted e macro juntas, porque esconder a macro daria uma falsa perfeição. Terceiro: aplicamos mitigações concretas — loss ponderada por classe, data augmentation, divisão estratificada e agregação de novos datasets focados em Ferrugem. Quarto, e que liga com a LLM: o grau de confiança acompanha o diagnóstico e é passado para a LLM, que pode ser mais cautelosa quando a confiança é baixa.
Frase de transição: 'E é exatamente aqui que entra a parte nova desta entrega: a camada de linguagem.'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Apresentador: 'A engenharia de prompt é o que define a qualidade da resposta. Separamos em dois prompts.'
O system prompt estabelece o PAPEL: a LLM age como um engenheiro agrônomo especialista em café e responde sempre em português objetivo. O user prompt INJETA o resultado da C2 — a doença e a confiança — e pede uma explicação curta mais três passos práticos.
Do lado direito, as decisões: definimos o formato (curto, em tópicos, pensado para o celular); usamos temperatura baixa, 0,2, porque é uma tarefa analítica e queremos respostas estáveis, não criativas; forçamos o idioma; e — boa prática exigida — versionamos os prompts no repositório, porque o prompt faz parte da arquitetura do sistema, não é um detalhe.
Se perguntarem por que 0,2 e não 0: deixamos uma margem mínima de naturalidade no texto sem comprometer a consistência; testamos 0,0, 0,2 e 0,7 e o 0,2 deu o melhor equilíbrio.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Apresentador: 'A integração com a Groq não é só chamar a API. Os requisitos pediam robustez, e foi nisso que focamos.'
Vá pelos seis cartões: 1) a chamada usa a chave lida do .env, nunca hardcoded. 2) Toda chamada tem timeout e tratamento de erro. 3) A regra de ouro: falha na LLM NÃO derruba o sistema — entregamos um fallback e o diagnóstico da C2 continua valendo. 4) Limitamos max_tokens, para controlar custo, latência e tamanho. 5) Fazemos logging de latência e tokens consumidos, para conseguir medir e otimizar. 6) E cacheamos respostas: se já geramos o plano para 'Ferrugem', reaproveitamos — economiza tempo e dinheiro.
Mensagem central: 'A LLM é um componente externo e pode falhar. Tratamos isso como engenharia: o sistema é resiliente a essa falha.'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Apresentador: 'Seguimos um conjunto de boas práticas que são quase um código de conduta ao usar LLMs.'
A primeira é a mais importante: nunca confiar cegamente. A resposta da LLM é uma sugestão de manejo; o diagnóstico de verdade vem da C2, que é mensurável. Usamos temperatura baixa para tarefas objetivas; documentamos os prompts como parte da arquitetura; limitamos tokens; cacheamos entradas repetidas; e guardamos a chave em variável de ambiente.
Se quiser fechar com impacto: 'Resumindo: tratamos a LLM como um assistente competente porém falível — útil, mas sempre sob supervisão e com salvaguardas.'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Apresentador: 'A quarta etapa é mostrar tudo isso para o usuário de forma clara. À esquerda está a tela de resultado do app.'
Aponte: 'No bloco verde, a saída crua da C2 — a doença e o grau de confiança. No bloco dourado, a análise gerada pela LLM: a explicação e os três passos. O usuário consegue comparar o dado bruto do modelo com a interpretação da linguagem — exatamente o que o requisito pedia.'
Lado direito: 'A análise aparece em tempo real, via WebSocket, mostrando cada fase do pipeline. E o resultado final pode virar um PDF e fica salvo no histórico do usuário.'
Observação honesta para a banca, se couber: 'Na captura mostrada, a fonte do plano é a Groq; no código atual essa camada está em migração a partir do Ollama local — a arquitetura, prompts e tratamento de erros são os mesmos.'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Apresentador: 'Duas perguntas que a banca certamente faria: por que esse modelo, e a resposta é boa?'
À esquerda, a justificativa do Groq: é absurdamente rápido por causa do hardware LPU, tem camada gratuita viável para um projeto acadêmico, gera bom português técnico com o Llama 3 e, ao contrário do Ollama, não exige que o usuário rode o modelo na própria máquina.
À direita, a análise crítica honesta, com exemplos reais: os pontos fortes são clareza, passos corretos para as doenças comuns e consistência graças à temperatura baixa. Os pontos de atenção: a LLM pode soar confiante mesmo quando a C2 está incerta, e não há garantia de embasamento agronômico — por isso tratamos a saída como sugestão, sujeita a revisão de um especialista.
Feche: 'É essa postura crítica que torna o sistema confiável: a LLM agrega valor, mas não substitui o agrônomo nem o dado medido da C2.'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Apresentador (fechamento): 'Para encerrar, o que estamos entregando nesta etapa.'
Liste os quatro entregáveis: o repositório no GitHub com a integração C2 + Groq e um README que a explica; os prompts documentados e a justificativa do modelo; a demonstração em vídeo do pipeline completo; e a análise crítica da qualidade das respostas.
Próximos passos, mostrando que o projeto tem futuro: reavaliar o modelo depois de reconsolidar o dataset, conseguir mais imagens de Ferrugem para corrigir o ponto fraco, e medir latência e custo reais da Groq em produção.
Encerre com simpatia: 'Esse é o CoffeCare — da foto da folha ao plano de tratamento, com visão computacional e linguagem trabalhando juntas. Obrigado, e estamos abertos a perguntas.'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4E342E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023360"/>
            <a:ext cx="3108960" cy="3108960"/>
          </a:xfrm>
          <a:prstGeom prst="ellipse">
            <a:avLst/>
          </a:prstGeom>
          <a:solidFill>
            <a:srgbClr val="2F6B3A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 PROJETO COFFECARE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Inteligente de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Doenças em Folhas de Café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B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Final — </a:t>
            </a:r>
            <a:pPr indent="0" marL="0">
              <a:buNone/>
            </a:pPr>
            <a:r>
              <a:rPr lang="en-US" sz="1800" dirty="0">
                <a:solidFill>
                  <a:srgbClr val="E9E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da Visão Computacional (C2) com uma LLM via API Groq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663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9A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Computacional (EfficientNet-B0)  ·  Engenharia de Prompt  ·  Groq  ·  FastAPI + React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Equipe: __________________   |   Disciplina: __________________   |   Data: ___/___/______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mostrar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29968"/>
            <a:ext cx="502920" cy="502920"/>
          </a:xfrm>
          <a:prstGeom prst="ellipse">
            <a:avLst/>
          </a:prstGeom>
          <a:solidFill>
            <a:srgbClr val="2F6B3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8562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22677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detectar doença na folha de café importa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53949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2029968"/>
            <a:ext cx="502920" cy="502920"/>
          </a:xfrm>
          <a:prstGeom prst="ellipse">
            <a:avLst/>
          </a:prstGeom>
          <a:solidFill>
            <a:srgbClr val="2F6B3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29400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15200" y="18562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solução CoffeCare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0" y="22677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→ diagnóstico → plano de tratamento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108960"/>
            <a:ext cx="53949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3447288"/>
            <a:ext cx="502920" cy="502920"/>
          </a:xfrm>
          <a:prstGeom prst="ellipse">
            <a:avLst/>
          </a:prstGeom>
          <a:solidFill>
            <a:srgbClr val="2F6B3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3447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32735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00200" y="368503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as peças se conectam (C2 + LLM)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55080" y="3108960"/>
            <a:ext cx="53949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3447288"/>
            <a:ext cx="502920" cy="502920"/>
          </a:xfrm>
          <a:prstGeom prst="ellipse">
            <a:avLst/>
          </a:prstGeom>
          <a:solidFill>
            <a:srgbClr val="C8924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29400" y="3447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315200" y="32735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C2 e seus resultados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15200" y="368503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de visão e suas métricas reais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526280"/>
            <a:ext cx="53949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4400" y="4864608"/>
            <a:ext cx="502920" cy="502920"/>
          </a:xfrm>
          <a:prstGeom prst="ellipse">
            <a:avLst/>
          </a:prstGeom>
          <a:solidFill>
            <a:srgbClr val="C8924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14400" y="4864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600200" y="46908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Integração com a LLM (Groq)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600200" y="510235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Prompt, chamada à API, boas práticas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355080" y="4526280"/>
            <a:ext cx="53949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629400" y="4864608"/>
            <a:ext cx="502920" cy="502920"/>
          </a:xfrm>
          <a:prstGeom prst="ellipse">
            <a:avLst/>
          </a:prstGeom>
          <a:solidFill>
            <a:srgbClr val="C8924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629400" y="4864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315200" y="46908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e análise crítica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315200" y="510235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pipeline end-to-end e a qualidade das respostas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do produtor de café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Doenças foliares —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ferrugem, bicho-mineiro, cercospora e phoma — reduzem produtividade e qualidade do grão.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60350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990088"/>
            <a:ext cx="411480" cy="411480"/>
          </a:xfrm>
          <a:prstGeom prst="ellipse">
            <a:avLst/>
          </a:prstGeom>
          <a:solidFill>
            <a:srgbClr val="C892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990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!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8529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tardio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32004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produtor costuma perceber a doença quando já se espalhou pela lavoura.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767328"/>
            <a:ext cx="60350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4014216"/>
            <a:ext cx="411480" cy="411480"/>
          </a:xfrm>
          <a:prstGeom prst="ellipse">
            <a:avLst/>
          </a:prstGeom>
          <a:solidFill>
            <a:srgbClr val="C8924A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014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!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387705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 de especialista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42245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toda propriedade tem acesso fácil a um agrônomo no momento certo.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791456"/>
            <a:ext cx="60350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5038344"/>
            <a:ext cx="411480" cy="411480"/>
          </a:xfrm>
          <a:prstGeom prst="ellipse">
            <a:avLst/>
          </a:prstGeom>
          <a:solidFill>
            <a:srgbClr val="C8924A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038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!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490118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Decisão sem orientação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524865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a doença é só metade — falta saber o que fazer a seguir.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040880" y="1783080"/>
            <a:ext cx="4572000" cy="4023360"/>
          </a:xfrm>
          <a:prstGeom prst="roundRect">
            <a:avLst>
              <a:gd name="adj" fmla="val 2045"/>
            </a:avLst>
          </a:prstGeom>
          <a:solidFill>
            <a:srgbClr val="4E342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0" y="2057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B0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oportunidade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315200" y="260604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0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Quase todo produtor tem um </a:t>
            </a:r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</a:t>
            </a:r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0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bolso.
</a:t>
            </a:r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0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se uma </a:t>
            </a:r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da folha</a:t>
            </a:r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0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virasse, em segundos, um diagnóstico confiável + um plano de ação em linguagem simples?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CoffeCare funciona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697480" cy="320040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86000"/>
            <a:ext cx="502920" cy="502920"/>
          </a:xfrm>
          <a:prstGeom prst="ellipse">
            <a:avLst/>
          </a:prstGeom>
          <a:solidFill>
            <a:srgbClr val="2F6B3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Foto da folha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Produtor fotografa e envia pelo app (React).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182112" y="31089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9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429000" y="2011680"/>
            <a:ext cx="2697480" cy="320040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03320" y="2286000"/>
            <a:ext cx="502920" cy="502920"/>
          </a:xfrm>
          <a:prstGeom prst="ellipse">
            <a:avLst/>
          </a:prstGeom>
          <a:solidFill>
            <a:srgbClr val="2F6B3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033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57600" y="2971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(C2)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57600" y="36118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classifica a doença e dá o grau de confiança.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71032" y="31089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9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400" dirty="0"/>
          </a:p>
        </p:txBody>
      </p:sp>
      <p:sp>
        <p:nvSpPr>
          <p:cNvPr id="16" name="Shape 14"/>
          <p:cNvSpPr/>
          <p:nvPr/>
        </p:nvSpPr>
        <p:spPr>
          <a:xfrm>
            <a:off x="6217920" y="2011680"/>
            <a:ext cx="2697480" cy="320040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2286000"/>
            <a:ext cx="502920" cy="502920"/>
          </a:xfrm>
          <a:prstGeom prst="ellipse">
            <a:avLst/>
          </a:prstGeom>
          <a:solidFill>
            <a:srgbClr val="C8924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46520" y="2971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por LLM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46520" y="36118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LLM via Groq escreve o plano de tratamento em português.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759952" y="31089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9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400" dirty="0"/>
          </a:p>
        </p:txBody>
      </p:sp>
      <p:sp>
        <p:nvSpPr>
          <p:cNvPr id="22" name="Shape 20"/>
          <p:cNvSpPr/>
          <p:nvPr/>
        </p:nvSpPr>
        <p:spPr>
          <a:xfrm>
            <a:off x="9006840" y="2011680"/>
            <a:ext cx="2697480" cy="320040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81160" y="2286000"/>
            <a:ext cx="502920" cy="502920"/>
          </a:xfrm>
          <a:prstGeom prst="ellipse">
            <a:avLst/>
          </a:prstGeom>
          <a:solidFill>
            <a:srgbClr val="C8924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28116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235440" y="2971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Laudo + histórico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235440" y="36118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em tela, exportável em PDF e salvo por usuário.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548640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EFE7D7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4400" y="54864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3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frase:  </a:t>
            </a:r>
            <a:pPr algn="ctr" indent="0" marL="0">
              <a:buNone/>
            </a:pPr>
            <a:r>
              <a:rPr lang="en-US" sz="18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C2 diz </a:t>
            </a:r>
            <a:pPr algn="ctr" indent="0" marL="0">
              <a:buNone/>
            </a:pPr>
            <a:r>
              <a:rPr lang="en-US" sz="1800" b="1" i="1" dirty="0">
                <a:solidFill>
                  <a:srgbClr val="2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</a:t>
            </a:r>
            <a:pPr algn="ctr" indent="0" marL="0">
              <a:buNone/>
            </a:pPr>
            <a:r>
              <a:rPr lang="en-US" sz="18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planta tem; a LLM diz </a:t>
            </a:r>
            <a:pPr algn="ctr" indent="0" marL="0">
              <a:buNone/>
            </a:pPr>
            <a:r>
              <a:rPr lang="en-US" sz="1800" b="1" i="1" dirty="0">
                <a:solidFill>
                  <a:srgbClr val="C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pPr algn="ctr" indent="0" marL="0">
              <a:buNone/>
            </a:pPr>
            <a:r>
              <a:rPr lang="en-US" sz="18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sobre isso.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as peças se conectam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3A4A8C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933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48716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+ Vite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Captura, resultados, histórico, PDF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0" y="1828800"/>
            <a:ext cx="3017520" cy="1554480"/>
          </a:xfrm>
          <a:prstGeom prst="roundRect">
            <a:avLst>
              <a:gd name="adj" fmla="val 4706"/>
            </a:avLst>
          </a:prstGeom>
          <a:solidFill>
            <a:srgbClr val="4E342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19933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— FastAPI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09160" y="248716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+ WebSocket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JWT · SQLite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778240" y="123444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2F6B3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915400" y="13990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C2 · Visão (PyTorch)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15400" y="18928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+ confiança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78240" y="297180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C8924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15400" y="31363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· Groq API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15400" y="36301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tratamento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(nuvem, rápida)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0" y="3794760"/>
            <a:ext cx="3017520" cy="1280160"/>
          </a:xfrm>
          <a:prstGeom prst="roundRect">
            <a:avLst>
              <a:gd name="adj" fmla="val 5714"/>
            </a:avLst>
          </a:prstGeom>
          <a:solidFill>
            <a:srgbClr val="55504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39593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Persistência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09160" y="44531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por usuário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(histórico + laudo)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83280" y="2606040"/>
            <a:ext cx="1143000" cy="0"/>
          </a:xfrm>
          <a:prstGeom prst="line">
            <a:avLst/>
          </a:prstGeom>
          <a:noFill/>
          <a:ln w="31750">
            <a:solidFill>
              <a:srgbClr val="7FB06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589520" y="2377440"/>
            <a:ext cx="1143000" cy="0"/>
          </a:xfrm>
          <a:prstGeom prst="line">
            <a:avLst/>
          </a:prstGeom>
          <a:noFill/>
          <a:ln w="31750">
            <a:solidFill>
              <a:srgbClr val="7FB06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589520" y="3611880"/>
            <a:ext cx="1143000" cy="0"/>
          </a:xfrm>
          <a:prstGeom prst="line">
            <a:avLst/>
          </a:prstGeom>
          <a:noFill/>
          <a:ln w="31750">
            <a:solidFill>
              <a:srgbClr val="7FB06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080760" y="3383280"/>
            <a:ext cx="0" cy="411480"/>
          </a:xfrm>
          <a:prstGeom prst="line">
            <a:avLst/>
          </a:prstGeom>
          <a:noFill/>
          <a:ln w="31750">
            <a:solidFill>
              <a:srgbClr val="7FB06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40080" y="553212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4E342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55321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B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Credenciais via .env  —  </a:t>
            </a:r>
            <a:pPr indent="0" marL="0">
              <a:buNone/>
            </a:pPr>
            <a:r>
              <a:rPr lang="en-US" sz="1400" dirty="0">
                <a:solidFill>
                  <a:srgbClr val="F0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GROQ_API_KEY nunca vai para o código nem para o GitHub; falha na LLM não derruba o sistema (fallback).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— PREPARAR O RESULTADO DA C2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C2: o modelo de visão computacional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85216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502920" cy="502920"/>
          </a:xfrm>
          <a:prstGeom prst="ellipse">
            <a:avLst/>
          </a:prstGeom>
          <a:solidFill>
            <a:srgbClr val="2F6B3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9751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340864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(transfer learning, PyTorch) classificando 5 classes de folha.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585216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429000"/>
            <a:ext cx="502920" cy="502920"/>
          </a:xfrm>
          <a:prstGeom prst="ellipse">
            <a:avLst/>
          </a:prstGeom>
          <a:solidFill>
            <a:srgbClr val="2F6B3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08760" y="325526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reutilizável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3621024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inferência foi encapsulada em uma função única: recebe a imagem, devolve o resultado.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585216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709160"/>
            <a:ext cx="502920" cy="502920"/>
          </a:xfrm>
          <a:prstGeom prst="ellipse">
            <a:avLst/>
          </a:prstGeom>
          <a:solidFill>
            <a:srgbClr val="2F6B3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5354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Saída estruturada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901184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padronizado em dicionário/JSON — pronto para alimentar a LLM.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766560" y="1828800"/>
            <a:ext cx="4846320" cy="3840480"/>
          </a:xfrm>
          <a:prstGeom prst="roundRect">
            <a:avLst>
              <a:gd name="adj" fmla="val 2143"/>
            </a:avLst>
          </a:prstGeom>
          <a:solidFill>
            <a:srgbClr val="2B1A12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40880" y="20116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B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padronizada da C2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40880" y="2468880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"disease": "Ferrugem",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"confidence": 0.94,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"model": "efficientnet_b0",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"classes": ["Ferrugem",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"Bicho-mineiro", "Cercospora",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"Phoma", "Saudável"]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40880" y="50292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+ contexto suficientes para a LLM analisar — não só o rótulo.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DA C2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Desempenho do modelo de visão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745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99,2%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(weighted)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7830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8745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99,2%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29000" y="2697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(weighted)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8745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9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17920" y="2697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(macro)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06840" y="17830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06840" y="18745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E3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10.296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06840" y="2697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de teste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4290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37160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3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3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3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3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Suporte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34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Bicho-mineiro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Cercospora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A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Ferrugem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A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A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A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A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Saudável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E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9098280" y="3429000"/>
            <a:ext cx="2514600" cy="2606040"/>
          </a:xfrm>
          <a:prstGeom prst="roundRect">
            <a:avLst>
              <a:gd name="adj" fmla="val 3273"/>
            </a:avLst>
          </a:prstGeom>
          <a:solidFill>
            <a:srgbClr val="F7EDE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281160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Olhe o Macro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281160" y="402336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4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média weighted (99%) é puxada pelas classes grandes. A média macro (93%) trata todas igual — e revela a fraqueza da Ferrugem.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HONESTIDADE CIENTÍFICA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da C2 e como tratamos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457200" cy="457200"/>
          </a:xfrm>
          <a:prstGeom prst="ellipse">
            <a:avLst/>
          </a:prstGeom>
          <a:solidFill>
            <a:srgbClr val="8A2B1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03911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Desbalanceamento de classes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65176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Ferrugem — justamente a doença mais grave — tinha pouquíssimas imagens. Isso derruba a métrica macro.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057400"/>
            <a:ext cx="457200" cy="457200"/>
          </a:xfrm>
          <a:prstGeom prst="ellipse">
            <a:avLst/>
          </a:prstGeom>
          <a:solidFill>
            <a:srgbClr val="4E342E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23760" y="203911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confiar só na acurácia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23760" y="265176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Reportamos weighted E macro lado a lado. Esconder a macro daria uma falsa sensação de perfeição.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160520"/>
            <a:ext cx="457200" cy="457200"/>
          </a:xfrm>
          <a:prstGeom prst="ellipse">
            <a:avLst/>
          </a:prstGeom>
          <a:solidFill>
            <a:srgbClr val="2F6B3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14223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Mitigações aplicadas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75488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ponderada por classe, augmentation forte, divisão estratificada e agregação de vários datasets focando Ferrugem.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388620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4160520"/>
            <a:ext cx="457200" cy="457200"/>
          </a:xfrm>
          <a:prstGeom prst="ellipse">
            <a:avLst/>
          </a:prstGeom>
          <a:solidFill>
            <a:srgbClr val="2F6B3A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23760" y="414223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confiança importa no produto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23760" y="475488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grau de confiança vai junto do diagnóstico — e é repassado à LLM, que pode ser mais cautelosa quando ele é baixo.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— ENGENHARIA DE PROMPT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conversamos com a LLM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86400" cy="1920240"/>
          </a:xfrm>
          <a:prstGeom prst="roundRect">
            <a:avLst>
              <a:gd name="adj" fmla="val 4286"/>
            </a:avLst>
          </a:prstGeom>
          <a:solidFill>
            <a:srgbClr val="4E342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385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B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 —  o papel da LLM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F0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"Você é um Engenheiro Agrônomo especialista em cafeicultura. Responda SEMPRE em português do Brasil, de forma objetiva e prática."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886200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4E342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4041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B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prompt  —  injeta o resultado da C2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4434840"/>
            <a:ext cx="5074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F0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"Diagnóstico: {disease} (confiança {confidence}). Explique brevemente a doença e liste 3 passos práticos de tratamento e controle."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1783080"/>
            <a:ext cx="5212080" cy="4251960"/>
          </a:xfrm>
          <a:prstGeom prst="roundRect">
            <a:avLst>
              <a:gd name="adj" fmla="val 1935"/>
            </a:avLst>
          </a:prstGeom>
          <a:solidFill>
            <a:srgbClr val="F5EFE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19659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Decisões de prompt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720840" y="2514600"/>
            <a:ext cx="256032" cy="256032"/>
          </a:xfrm>
          <a:prstGeom prst="ellipse">
            <a:avLst/>
          </a:prstGeom>
          <a:solidFill>
            <a:srgbClr val="C8924A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0" y="24140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Formato definido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132320" y="276148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Pedimos resposta curta, em tópicos — fácil de ler no celular.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20840" y="3383280"/>
            <a:ext cx="256032" cy="256032"/>
          </a:xfrm>
          <a:prstGeom prst="ellipse">
            <a:avLst/>
          </a:prstGeom>
          <a:solidFill>
            <a:srgbClr val="C8924A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32826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Temperatura baixa (0,2)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132320" y="363016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analítica e objetiva → respostas estáveis, menos 'invenção'.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20840" y="4251960"/>
            <a:ext cx="256032" cy="256032"/>
          </a:xfrm>
          <a:prstGeom prst="ellipse">
            <a:avLst/>
          </a:prstGeom>
          <a:solidFill>
            <a:srgbClr val="C8924A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41513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Idioma forçado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132320" y="449884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português do Brasil mesmo que o modelo pense em inglês.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20840" y="5120640"/>
            <a:ext cx="256032" cy="256032"/>
          </a:xfrm>
          <a:prstGeom prst="ellipse">
            <a:avLst/>
          </a:prstGeom>
          <a:solidFill>
            <a:srgbClr val="C8924A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0" y="502005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Prompts versionados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132320" y="53675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Fazem parte da arquitetura: ficam documentados no repositório.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— INTEGRAÇÃO COM O GROQ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Chamando a LLM com robustez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39112"/>
            <a:ext cx="457200" cy="457200"/>
          </a:xfrm>
          <a:prstGeom prst="ellipse">
            <a:avLst/>
          </a:prstGeom>
          <a:solidFill>
            <a:srgbClr val="2F6B3A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96112" y="26243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Chamada à API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3063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Requisição à Groq com a chave lida do .env (variável de ambiente).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61688" y="178308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039112"/>
            <a:ext cx="457200" cy="457200"/>
          </a:xfrm>
          <a:prstGeom prst="ellipse">
            <a:avLst/>
          </a:prstGeom>
          <a:solidFill>
            <a:srgbClr val="C8924A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17720" y="26243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Timeout + tratamento de erro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3063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chamada tem tempo-limite; erro de rede ou de API é capturado.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83296" y="178308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39328" y="2039112"/>
            <a:ext cx="457200" cy="457200"/>
          </a:xfrm>
          <a:prstGeom prst="ellipse">
            <a:avLst/>
          </a:prstGeom>
          <a:solidFill>
            <a:srgbClr val="8A2B1E"/>
          </a:solidFill>
          <a:ln/>
        </p:spPr>
      </p:sp>
      <p:sp>
        <p:nvSpPr>
          <p:cNvPr id="16" name="Text 14"/>
          <p:cNvSpPr/>
          <p:nvPr/>
        </p:nvSpPr>
        <p:spPr>
          <a:xfrm>
            <a:off x="8339328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39328" y="26243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Nunca quebra o sistema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39328" y="3063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LLM falhar, retornamos uma mensagem de fallback — a análise da C2 continua válida.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88620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4142232"/>
            <a:ext cx="457200" cy="457200"/>
          </a:xfrm>
          <a:prstGeom prst="ellipse">
            <a:avLst/>
          </a:prstGeom>
          <a:solidFill>
            <a:srgbClr val="2F6B3A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96112" y="47274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 de tokens (max_tokens)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96112" y="51663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enxuta: controla custo, latência e evita texto longo demais.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61688" y="388620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4142232"/>
            <a:ext cx="457200" cy="457200"/>
          </a:xfrm>
          <a:prstGeom prst="ellipse">
            <a:avLst/>
          </a:prstGeom>
          <a:solidFill>
            <a:srgbClr val="4E342E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617720" y="47274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Logging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17720" y="51663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Registramos latência e tokens consumidos por chamada — para medir e otimizar.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83296" y="388620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39328" y="4142232"/>
            <a:ext cx="457200" cy="457200"/>
          </a:xfrm>
          <a:prstGeom prst="ellipse">
            <a:avLst/>
          </a:prstGeom>
          <a:solidFill>
            <a:srgbClr val="C8924A"/>
          </a:solidFill>
          <a:ln/>
        </p:spPr>
      </p:sp>
      <p:sp>
        <p:nvSpPr>
          <p:cNvPr id="31" name="Text 29"/>
          <p:cNvSpPr/>
          <p:nvPr/>
        </p:nvSpPr>
        <p:spPr>
          <a:xfrm>
            <a:off x="8339328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6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339328" y="47274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 de respostas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39328" y="51663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doença → resposta reaproveitada: mais rápido e mais barato.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COM LLMs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Princípios que guiaram a integração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4E342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194560"/>
            <a:ext cx="457200" cy="457200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1A12"/>
                </a:solidFill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9476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Nunca confiar cegamente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350008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resposta da LLM é uma SUGESTÃO. O diagnóstico técnico vem da C2; a LLM apenas orienta.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4E342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65392" y="2194560"/>
            <a:ext cx="457200" cy="457200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1" name="Text 9"/>
          <p:cNvSpPr/>
          <p:nvPr/>
        </p:nvSpPr>
        <p:spPr>
          <a:xfrm>
            <a:off x="6565392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1A12"/>
                </a:solidFill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23760" y="19476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Temperatura 0,0–0,3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2350008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objetiva pede respostas determinísticas. Usamos 0,2.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264408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4E342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3675888"/>
            <a:ext cx="457200" cy="457200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1A12"/>
                </a:solidFill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34290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Documentar os prompts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4480" y="3831336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Eles são parte da arquitetura — versionados e revisáveis.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3264408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4E342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65392" y="3675888"/>
            <a:ext cx="457200" cy="457200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21" name="Text 19"/>
          <p:cNvSpPr/>
          <p:nvPr/>
        </p:nvSpPr>
        <p:spPr>
          <a:xfrm>
            <a:off x="6565392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1A12"/>
                </a:solidFill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23760" y="34290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Limitar tokens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0" y="3831336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max_tokens evita respostas longas, caras e divagantes.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745736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4E342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96112" y="5157216"/>
            <a:ext cx="457200" cy="457200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5157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1A12"/>
                </a:solidFill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54480" y="491032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Cachear entradas repetidas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54480" y="5312664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e velocidade para diagnósticos recorrentes.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09360" y="4745736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4E342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65392" y="5157216"/>
            <a:ext cx="457200" cy="457200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31" name="Text 29"/>
          <p:cNvSpPr/>
          <p:nvPr/>
        </p:nvSpPr>
        <p:spPr>
          <a:xfrm>
            <a:off x="6565392" y="5157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1A12"/>
                </a:solidFill>
              </a:rPr>
              <a:t>✓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223760" y="491032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Segredos no .env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223760" y="5312664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GROQ_API_KEY fora do código e fora do Git.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— APRESENTAÇÃO DO RESULTADO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C2 e LLM lado a lado para o usuário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93776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4389120" cy="1097280"/>
          </a:xfrm>
          <a:prstGeom prst="roundRect">
            <a:avLst>
              <a:gd name="adj" fmla="val 5000"/>
            </a:avLst>
          </a:prstGeom>
          <a:solidFill>
            <a:srgbClr val="EAF3E9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194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(C2)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24871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Ferrugem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703320" y="2542032"/>
            <a:ext cx="1417320" cy="411480"/>
          </a:xfrm>
          <a:prstGeom prst="roundRect">
            <a:avLst>
              <a:gd name="adj" fmla="val 44444"/>
            </a:avLst>
          </a:prstGeom>
          <a:solidFill>
            <a:srgbClr val="2F6B3A"/>
          </a:solidFill>
          <a:ln/>
        </p:spPr>
      </p:sp>
      <p:sp>
        <p:nvSpPr>
          <p:cNvPr id="9" name="Text 7"/>
          <p:cNvSpPr/>
          <p:nvPr/>
        </p:nvSpPr>
        <p:spPr>
          <a:xfrm>
            <a:off x="3703320" y="254203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94% certeza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3337560"/>
            <a:ext cx="4389120" cy="2514600"/>
          </a:xfrm>
          <a:prstGeom prst="roundRect">
            <a:avLst>
              <a:gd name="adj" fmla="val 2182"/>
            </a:avLst>
          </a:prstGeom>
          <a:solidFill>
            <a:srgbClr val="FBF6EC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474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ação — IA (Groq)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3794760"/>
            <a:ext cx="4069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ferrugem é um fungo que forma manchas alaranjadas na folha.
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Aplicar fungicida cúprico nas primeiras manchas.
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Melhorar arejamento e reduzir umidade da copa.
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Monitorar semanalmente e adubar para fortalecer a planta.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0" y="1965960"/>
            <a:ext cx="56692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99632" y="2331720"/>
            <a:ext cx="502920" cy="502920"/>
          </a:xfrm>
          <a:prstGeom prst="ellipse">
            <a:avLst/>
          </a:prstGeom>
          <a:solidFill>
            <a:srgbClr val="2F6B3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99632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858000" y="2148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Saída bruta vs. análise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0" y="256032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usuário vê o rótulo + confiança da C2 e, separadamente, a análise gerada pela LLM.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3337560"/>
            <a:ext cx="56692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99632" y="3703320"/>
            <a:ext cx="502920" cy="502920"/>
          </a:xfrm>
          <a:prstGeom prst="ellipse">
            <a:avLst/>
          </a:prstGeom>
          <a:solidFill>
            <a:srgbClr val="C8924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99632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858000" y="3520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 real (WebSocket)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0" y="393192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etapas aparecem na tela conforme acontecem: 'analisando…', 'gerando plano…'.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0" y="4709160"/>
            <a:ext cx="56692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99632" y="5074920"/>
            <a:ext cx="502920" cy="502920"/>
          </a:xfrm>
          <a:prstGeom prst="ellipse">
            <a:avLst/>
          </a:prstGeom>
          <a:solidFill>
            <a:srgbClr val="C8924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99632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858000" y="4892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Laudo em PDF + histórico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58000" y="530352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é exportável e fica salvo por usuário para consulta futura.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DO MODELO &amp; QUALIDADE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Groq + análise das respostas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86400" cy="425196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Groq (Llama 3)?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60120" y="2560320"/>
            <a:ext cx="274320" cy="274320"/>
          </a:xfrm>
          <a:prstGeom prst="ellipse">
            <a:avLst/>
          </a:prstGeom>
          <a:solidFill>
            <a:srgbClr val="2F6B3A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2468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Velocidade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28163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Inferência muito rápida (LPU) → resposta quase instantânea no app.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0120" y="3429000"/>
            <a:ext cx="274320" cy="274320"/>
          </a:xfrm>
          <a:prstGeom prst="ellipse">
            <a:avLst/>
          </a:prstGeom>
          <a:solidFill>
            <a:srgbClr val="2F6B3A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33375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/ camada gratuita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417320" y="368503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Viável para um projeto acadêmico, sem servidor de GPU próprio.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" y="4297680"/>
            <a:ext cx="274320" cy="274320"/>
          </a:xfrm>
          <a:prstGeom prst="ellipse">
            <a:avLst/>
          </a:prstGeom>
          <a:solidFill>
            <a:srgbClr val="2F6B3A"/>
          </a:solidFill>
          <a:ln/>
        </p:spPr>
      </p:sp>
      <p:sp>
        <p:nvSpPr>
          <p:cNvPr id="13" name="Text 11"/>
          <p:cNvSpPr/>
          <p:nvPr/>
        </p:nvSpPr>
        <p:spPr>
          <a:xfrm>
            <a:off x="1417320" y="4206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Qualidade em PT-BR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417320" y="455371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gera texto técnico coerente em português.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0120" y="5166360"/>
            <a:ext cx="274320" cy="274320"/>
          </a:xfrm>
          <a:prstGeom prst="ellipse">
            <a:avLst/>
          </a:prstGeom>
          <a:solidFill>
            <a:srgbClr val="2F6B3A"/>
          </a:solidFill>
          <a:ln/>
        </p:spPr>
      </p:sp>
      <p:sp>
        <p:nvSpPr>
          <p:cNvPr id="16" name="Text 14"/>
          <p:cNvSpPr/>
          <p:nvPr/>
        </p:nvSpPr>
        <p:spPr>
          <a:xfrm>
            <a:off x="1417320" y="5074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infra local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417320" y="542239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do Ollama, não exige o usuário rodar o modelo na máquina.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1783080"/>
            <a:ext cx="5212080" cy="4251960"/>
          </a:xfrm>
          <a:prstGeom prst="roundRect">
            <a:avLst>
              <a:gd name="adj" fmla="val 1935"/>
            </a:avLst>
          </a:prstGeom>
          <a:solidFill>
            <a:srgbClr val="F7EDE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19659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4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crítica das respostas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675120" y="2514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Bom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43800" y="251460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A4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clara, passos práticos e corretos para doenças comuns.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675120" y="34015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Bom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43800" y="340156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A4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baixa deixou as respostas consistentes entre execuções.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675120" y="428853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Atenção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43800" y="4288536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A4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'soar confiante' mesmo quando a confiança da C2 é baixa.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675120" y="517550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Atenção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543800" y="5175504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A4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garantia de fonte agronômica — precisa de revisão de especialista.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B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206240"/>
            <a:ext cx="4114800" cy="4114800"/>
          </a:xfrm>
          <a:prstGeom prst="ellipse">
            <a:avLst/>
          </a:prstGeom>
          <a:solidFill>
            <a:srgbClr val="4E342E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463040"/>
            <a:ext cx="3840480" cy="3840480"/>
          </a:xfrm>
          <a:prstGeom prst="ellipse">
            <a:avLst/>
          </a:prstGeom>
          <a:solidFill>
            <a:srgbClr val="2F6B3A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ENTREGÁVEIS &amp; PRÓXIMOS PASSOS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entregamos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5303520" cy="1234440"/>
          </a:xfrm>
          <a:prstGeom prst="roundRect">
            <a:avLst>
              <a:gd name="adj" fmla="val 6667"/>
            </a:avLst>
          </a:prstGeom>
          <a:solidFill>
            <a:srgbClr val="4E342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2377440"/>
            <a:ext cx="502920" cy="502920"/>
          </a:xfrm>
          <a:prstGeom prst="ellipse">
            <a:avLst/>
          </a:prstGeom>
          <a:solidFill>
            <a:srgbClr val="7FB069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91640" y="2194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Repositório GitHub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91640" y="261518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C2 + LLM via Groq, com README explicando a integração.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55080" y="2011680"/>
            <a:ext cx="5303520" cy="1234440"/>
          </a:xfrm>
          <a:prstGeom prst="roundRect">
            <a:avLst>
              <a:gd name="adj" fmla="val 6667"/>
            </a:avLst>
          </a:prstGeom>
          <a:solidFill>
            <a:srgbClr val="4E342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29400" y="2377440"/>
            <a:ext cx="502920" cy="502920"/>
          </a:xfrm>
          <a:prstGeom prst="ellipse">
            <a:avLst/>
          </a:prstGeom>
          <a:solidFill>
            <a:srgbClr val="7FB069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294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15200" y="2194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Prompts documentados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0" y="261518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 user prompt versionados + justificativa do modelo escolhido.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3429000"/>
            <a:ext cx="5303520" cy="1234440"/>
          </a:xfrm>
          <a:prstGeom prst="roundRect">
            <a:avLst>
              <a:gd name="adj" fmla="val 6667"/>
            </a:avLst>
          </a:prstGeom>
          <a:solidFill>
            <a:srgbClr val="4E342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05840" y="3794760"/>
            <a:ext cx="502920" cy="502920"/>
          </a:xfrm>
          <a:prstGeom prst="ellipse">
            <a:avLst/>
          </a:prstGeom>
          <a:solidFill>
            <a:srgbClr val="7FB069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0584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91640" y="36118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end-to-end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91640" y="403250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curto mostrando o pipeline da foto ao plano de tratamento.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55080" y="3429000"/>
            <a:ext cx="5303520" cy="1234440"/>
          </a:xfrm>
          <a:prstGeom prst="roundRect">
            <a:avLst>
              <a:gd name="adj" fmla="val 6667"/>
            </a:avLst>
          </a:prstGeom>
          <a:solidFill>
            <a:srgbClr val="4E342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29400" y="3794760"/>
            <a:ext cx="502920" cy="502920"/>
          </a:xfrm>
          <a:prstGeom prst="ellipse">
            <a:avLst/>
          </a:prstGeom>
          <a:solidFill>
            <a:srgbClr val="7FB069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62940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315200" y="36118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crítica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0" y="403250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da qualidade das respostas em exemplos reais.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31520" y="5029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C9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passos:  reavaliar o modelo após reconsolidar o dataset · enriquecer imagens de Ferrugem · medir latência/custo da Groq em produção.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" y="58064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B0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  ☕   Perguntas?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CoffeCare — Integração C2 + LLM (Groq)</dc:title>
  <dc:subject>PptxGenJS Presentation</dc:subject>
  <dc:creator>Equipe CoffeCare</dc:creator>
  <cp:lastModifiedBy>Equipe CoffeCare</cp:lastModifiedBy>
  <cp:revision>1</cp:revision>
  <dcterms:created xsi:type="dcterms:W3CDTF">2026-06-23T20:16:23Z</dcterms:created>
  <dcterms:modified xsi:type="dcterms:W3CDTF">2026-06-23T20:16:23Z</dcterms:modified>
</cp:coreProperties>
</file>